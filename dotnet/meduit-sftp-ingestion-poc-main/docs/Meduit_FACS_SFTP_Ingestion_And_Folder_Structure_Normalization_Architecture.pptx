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2905416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240280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PSIOG   | 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 i="0">
                <a:solidFill>
                  <a:srgbClr val="0F383A"/>
                </a:solidFill>
                <a:latin typeface="Palatino Linotype"/>
                <a:cs typeface="Palatino Linotype"/>
              </a:rPr>
              <a:t>SFTP Ingestion + Folder Structure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06908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900" b="0" i="0">
                <a:solidFill>
                  <a:srgbClr val="1C7070"/>
                </a:solidFill>
                <a:latin typeface="Palatino Linotype"/>
                <a:cs typeface="Palatino Linotype"/>
              </a:rPr>
              <a:t>A curation layer in front of the Meduit MDM pipeline - discover, classify, SME confirm, promote.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600" b="0" i="0">
                <a:solidFill>
                  <a:srgbClr val="556668"/>
                </a:solidFill>
                <a:latin typeface="Palatino Linotype"/>
                <a:cs typeface="Palatino Linotype"/>
              </a:rPr>
              <a:t>Normalizes the messy client SFTP into one stable, governed shape.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349240"/>
            <a:ext cx="10515600" cy="18288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5321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56668"/>
                </a:solidFill>
                <a:latin typeface="Palatino Linotype"/>
                <a:cs typeface="Palatino Linotype"/>
              </a:rPr>
              <a:t>Prepared by </a:t>
            </a:r>
            <a:r>
              <a:rPr sz="12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  <a:r>
              <a:rPr sz="1200" b="0" i="0">
                <a:solidFill>
                  <a:srgbClr val="556668"/>
                </a:solidFill>
                <a:latin typeface="Palatino Linotype"/>
                <a:cs typeface="Palatino Linotype"/>
              </a:rPr>
              <a:t>   |   Solution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247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i="0">
                <a:solidFill>
                  <a:srgbClr val="556668"/>
                </a:solidFill>
                <a:latin typeface="Palatino Linotype"/>
                <a:cs typeface="Palatino Linotype"/>
              </a:rPr>
              <a:t>Confidential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99669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0F383A"/>
                </a:solidFill>
                <a:latin typeface="Palatino Linotype"/>
                <a:cs typeface="Palatino Linotype"/>
              </a:rPr>
              <a:t>SFTP Ingestion + Folder Structure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 i="0">
                <a:solidFill>
                  <a:srgbClr val="556668"/>
                </a:solidFill>
                <a:latin typeface="Palatino Linotype"/>
                <a:cs typeface="Palatino Linotype"/>
              </a:rPr>
              <a:t>Files arrive under inconsistent names and shifting folders - the service normalizes, classifies, and an SME confirms before promote.</a:t>
            </a:r>
          </a:p>
        </p:txBody>
      </p:sp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"/>
            <a:ext cx="1284500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28800"/>
            <a:ext cx="11091672" cy="932688"/>
          </a:xfrm>
          <a:prstGeom prst="roundRect">
            <a:avLst>
              <a:gd name="adj" fmla="val 6000"/>
            </a:avLst>
          </a:prstGeom>
          <a:solidFill>
            <a:srgbClr val="0F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Palatino Linotype"/>
                <a:cs typeface="Palatino Linotype"/>
              </a:rPr>
              <a:t>SNOWFLAKE  -  CONTROL PLANE  (single source of truth for state)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1C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CFG_SFTP_SOURCE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402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1C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249424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CTL_FILE_INVENTORY  - 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02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1C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249424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CTL_LANDING_LOAD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10128"/>
            <a:ext cx="1828800" cy="1298448"/>
          </a:xfrm>
          <a:prstGeom prst="roundRect">
            <a:avLst>
              <a:gd name="adj" fmla="val 10000"/>
            </a:avLst>
          </a:prstGeom>
          <a:solidFill>
            <a:srgbClr val="E3F1F1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16824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383A"/>
                </a:solidFill>
                <a:latin typeface="Palatino Linotype"/>
                <a:cs typeface="Palatino Linotype"/>
              </a:rPr>
              <a:t>Network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fed from SFTP by an external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3310128"/>
            <a:ext cx="18288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A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8" y="3456432"/>
            <a:ext cx="16824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383A"/>
                </a:solidFill>
                <a:latin typeface="Palatino Linotype"/>
                <a:cs typeface="Palatino Linotype"/>
              </a:rPr>
              <a:t>Ingest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4041648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read share - hash - classify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3310128"/>
            <a:ext cx="1828800" cy="1298448"/>
          </a:xfrm>
          <a:prstGeom prst="roundRect">
            <a:avLst>
              <a:gd name="adj" fmla="val 10000"/>
            </a:avLst>
          </a:prstGeom>
          <a:solidFill>
            <a:srgbClr val="F7FAFA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3456432"/>
            <a:ext cx="16824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383A"/>
                </a:solidFill>
                <a:latin typeface="Palatino Linotype"/>
                <a:cs typeface="Palatino Linotype"/>
              </a:rPr>
              <a:t>Normalize Folders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4041648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raw -&gt; organized: system/client/feed/date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5472" y="3310128"/>
            <a:ext cx="1828800" cy="1298448"/>
          </a:xfrm>
          <a:prstGeom prst="roundRect">
            <a:avLst>
              <a:gd name="adj" fmla="val 10000"/>
            </a:avLst>
          </a:prstGeom>
          <a:solidFill>
            <a:srgbClr val="E3F1F1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78624" y="3456432"/>
            <a:ext cx="16824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383A"/>
                </a:solidFill>
                <a:latin typeface="Palatino Linotype"/>
                <a:cs typeface="Palatino Linotype"/>
              </a:rPr>
              <a:t>@DEX.LANDING_STAGE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4041648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PUT + register PENDING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3310128"/>
            <a:ext cx="1828800" cy="1298448"/>
          </a:xfrm>
          <a:prstGeom prst="roundRect">
            <a:avLst>
              <a:gd name="adj" fmla="val 10000"/>
            </a:avLst>
          </a:prstGeom>
          <a:solidFill>
            <a:srgbClr val="ECF3D6"/>
          </a:solidFill>
          <a:ln w="12700">
            <a:solidFill>
              <a:srgbClr val="A4C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91472" y="3456432"/>
            <a:ext cx="168249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383A"/>
                </a:solidFill>
                <a:latin typeface="Palatino Linotype"/>
                <a:cs typeface="Palatino Linotype"/>
              </a:rPr>
              <a:t>MDM Pipeline (DAG)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4041648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FILE_RECEIVE -&gt; RUN_CLOSE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414016" y="3776472"/>
            <a:ext cx="347472" cy="3657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4626864" y="3776472"/>
            <a:ext cx="347472" cy="3657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6839712" y="3776472"/>
            <a:ext cx="347472" cy="3657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9052559" y="3776472"/>
            <a:ext cx="347472" cy="3657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88689" y="2761488"/>
            <a:ext cx="10972" cy="548640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Up Arrow 33"/>
          <p:cNvSpPr/>
          <p:nvPr/>
        </p:nvSpPr>
        <p:spPr>
          <a:xfrm>
            <a:off x="3593592" y="2761488"/>
            <a:ext cx="201168" cy="201168"/>
          </a:xfrm>
          <a:prstGeom prst="up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71216" y="29260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0" i="1">
                <a:solidFill>
                  <a:srgbClr val="556668"/>
                </a:solidFill>
                <a:latin typeface="Palatino Linotype"/>
                <a:cs typeface="Palatino Linotype"/>
              </a:rPr>
              <a:t>write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27233" y="2761488"/>
            <a:ext cx="10972" cy="548640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Up Arrow 36"/>
          <p:cNvSpPr/>
          <p:nvPr/>
        </p:nvSpPr>
        <p:spPr>
          <a:xfrm>
            <a:off x="10232136" y="2761488"/>
            <a:ext cx="201168" cy="201168"/>
          </a:xfrm>
          <a:prstGeom prst="up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29260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0" i="1">
                <a:solidFill>
                  <a:srgbClr val="556668"/>
                </a:solidFill>
                <a:latin typeface="Palatino Linotype"/>
                <a:cs typeface="Palatino Linotype"/>
              </a:rPr>
              <a:t>run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62656" y="4892040"/>
            <a:ext cx="5888736" cy="786384"/>
          </a:xfrm>
          <a:prstGeom prst="roundRect">
            <a:avLst>
              <a:gd name="adj" fmla="val 12000"/>
            </a:avLst>
          </a:prstGeom>
          <a:solidFill>
            <a:srgbClr val="ECF3D6"/>
          </a:solidFill>
          <a:ln w="22225">
            <a:solidFill>
              <a:srgbClr val="A4C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62656" y="5001768"/>
            <a:ext cx="58887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F383A"/>
                </a:solidFill>
                <a:latin typeface="Palatino Linotype"/>
                <a:cs typeface="Palatino Linotype"/>
              </a:rPr>
              <a:t>Streamlit  -  SME Review &amp; Confirm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5312664"/>
            <a:ext cx="58887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the human gate  -  confirm only the uncertain; learns over time</a:t>
            </a:r>
          </a:p>
        </p:txBody>
      </p:sp>
      <p:sp>
        <p:nvSpPr>
          <p:cNvPr id="42" name="Up Arrow 41"/>
          <p:cNvSpPr/>
          <p:nvPr/>
        </p:nvSpPr>
        <p:spPr>
          <a:xfrm>
            <a:off x="5806440" y="4645152"/>
            <a:ext cx="201168" cy="210311"/>
          </a:xfrm>
          <a:prstGeom prst="upArrow">
            <a:avLst/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1C7070"/>
                </a:solidFill>
                <a:latin typeface="Palatino Linotype"/>
                <a:cs typeface="Palatino Linotype"/>
              </a:rPr>
              <a:t>The service normalizes the messy SFTP into one stable shape; Snowflake holds the state; the MDM DAG is unchanged.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37376"/>
            <a:ext cx="11091672" cy="12801"/>
          </a:xfrm>
          <a:prstGeom prst="rect">
            <a:avLst/>
          </a:prstGeom>
          <a:solidFill>
            <a:srgbClr val="CF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SFTP Ingestion + Folder Normalization   | 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USER INTERFACE  -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99669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0F383A"/>
                </a:solidFill>
                <a:latin typeface="Palatino Linotype"/>
                <a:cs typeface="Palatino Linotype"/>
              </a:rPr>
              <a:t>Review Queue  -  Original to Normalized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 i="0">
                <a:solidFill>
                  <a:srgbClr val="556668"/>
                </a:solidFill>
                <a:latin typeface="Palatino Linotype"/>
                <a:cs typeface="Palatino Linotype"/>
              </a:rPr>
              <a:t>See each messy original name normalized; multi-select to confirm or ignore (do not promote).</a:t>
            </a:r>
          </a:p>
        </p:txBody>
      </p:sp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"/>
            <a:ext cx="1284500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011680"/>
            <a:ext cx="11091672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91672" cy="384048"/>
          </a:xfrm>
          <a:prstGeom prst="rect">
            <a:avLst/>
          </a:prstGeom>
          <a:solidFill>
            <a:srgbClr val="0F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4944" y="2148840"/>
            <a:ext cx="109728" cy="109728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2148840"/>
            <a:ext cx="109728" cy="109728"/>
          </a:xfrm>
          <a:prstGeom prst="ellipse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148840"/>
            <a:ext cx="109728" cy="109728"/>
          </a:xfrm>
          <a:prstGeom prst="ellipse">
            <a:avLst/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066544"/>
            <a:ext cx="102687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Review Queue   -   original  -&gt;  normalized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23744"/>
            <a:ext cx="10725912" cy="310896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596896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55117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83A"/>
                </a:solidFill>
                <a:latin typeface="Palatino Linotype"/>
                <a:cs typeface="Palatino Linotype"/>
              </a:rPr>
              <a:t>Original name /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255117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83A"/>
                </a:solidFill>
                <a:latin typeface="Palatino Linotype"/>
                <a:cs typeface="Palatino Linotype"/>
              </a:rPr>
              <a:t>Normalized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511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83A"/>
                </a:solidFill>
                <a:latin typeface="Palatino Linotype"/>
                <a:cs typeface="Palatino Linotype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255117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83A"/>
                </a:solidFill>
                <a:latin typeface="Palatino Linotype"/>
                <a:cs typeface="Palatino Linotype"/>
              </a:rPr>
              <a:t>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07792"/>
            <a:ext cx="10725912" cy="420624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635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03580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296265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MCD1-FCS-RMP/.../ARTOST~1.CSV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376672" y="3054096"/>
            <a:ext cx="201168" cy="1371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79" y="296265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F3032"/>
                </a:solidFill>
                <a:latin typeface="Palatino Linotype"/>
                <a:cs typeface="Palatino Linotype"/>
              </a:rPr>
              <a:t>ARTOSTNB_20260617.csv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6265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1C7070"/>
                </a:solidFill>
                <a:latin typeface="Palatino Linotype"/>
                <a:cs typeface="Palatino Linotype"/>
              </a:rPr>
              <a:t>MCD1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14432" y="300837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14432" y="30175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Palatino Linotype"/>
                <a:cs typeface="Palatino Linotype"/>
              </a:rPr>
              <a:t>AUTO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01568"/>
            <a:ext cx="10725912" cy="420624"/>
          </a:xfrm>
          <a:prstGeom prst="roundRect">
            <a:avLst>
              <a:gd name="adj" fmla="val 5000"/>
            </a:avLst>
          </a:prstGeom>
          <a:solidFill>
            <a:srgbClr val="E3F1F1"/>
          </a:solidFill>
          <a:ln w="635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352958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1A9696"/>
          </a:solidFill>
          <a:ln w="12700">
            <a:solidFill>
              <a:srgbClr val="1A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83864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Palatino Linotype"/>
                <a:cs typeface="Palatino Linotype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45643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incoming/dsg dump 6-17.txt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376672" y="3547872"/>
            <a:ext cx="201168" cy="1371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79" y="345643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F3032"/>
                </a:solidFill>
                <a:latin typeface="Palatino Linotype"/>
                <a:cs typeface="Palatino Linotype"/>
              </a:rPr>
              <a:t>RUSHCOP2_20260617.txt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45643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1C7070"/>
                </a:solidFill>
                <a:latin typeface="Palatino Linotype"/>
                <a:cs typeface="Palatino Linotype"/>
              </a:rPr>
              <a:t>MCD1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350215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F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14432" y="351129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Palatino Linotype"/>
                <a:cs typeface="Palatino Linotype"/>
              </a:rPr>
              <a:t>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895344"/>
            <a:ext cx="10725912" cy="420624"/>
          </a:xfrm>
          <a:prstGeom prst="roundRect">
            <a:avLst>
              <a:gd name="adj" fmla="val 5000"/>
            </a:avLst>
          </a:prstGeom>
          <a:solidFill>
            <a:srgbClr val="E3F1F1"/>
          </a:solidFill>
          <a:ln w="635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4672" y="4023359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1A9696"/>
          </a:solidFill>
          <a:ln w="12700">
            <a:solidFill>
              <a:srgbClr val="1A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977639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Palatino Linotype"/>
                <a:cs typeface="Palatino Linotype"/>
              </a:rPr>
              <a:t>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3950207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outbound/recon_output_0617.csv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376672" y="4041648"/>
            <a:ext cx="201168" cy="1371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79" y="3950207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F3032"/>
                </a:solidFill>
                <a:latin typeface="Palatino Linotype"/>
                <a:cs typeface="Palatino Linotype"/>
              </a:rPr>
              <a:t>(processed output - ignore)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950207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1C7070"/>
                </a:solidFill>
                <a:latin typeface="Palatino Linotype"/>
                <a:cs typeface="Palatino Linotype"/>
              </a:rPr>
              <a:t>MCD2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14432" y="39959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556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14432" y="40050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Palatino Linotype"/>
                <a:cs typeface="Palatino Linotype"/>
              </a:rPr>
              <a:t>IGNORE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389120"/>
            <a:ext cx="10725912" cy="420624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635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04672" y="4517136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5568" y="4443983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BH/2026/wk24/bhsrtn final.dat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376672" y="4535424"/>
            <a:ext cx="201168" cy="1371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79" y="4443983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F3032"/>
                </a:solidFill>
                <a:latin typeface="Palatino Linotype"/>
                <a:cs typeface="Palatino Linotype"/>
              </a:rPr>
              <a:t>BHSRTN_20260617.dat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443983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1C7070"/>
                </a:solidFill>
                <a:latin typeface="Palatino Linotype"/>
                <a:cs typeface="Palatino Linotype"/>
              </a:rPr>
              <a:t>MCD1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14432" y="448970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14432" y="449884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Palatino Linotype"/>
                <a:cs typeface="Palatino Linotype"/>
              </a:rPr>
              <a:t>AUTO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882896"/>
            <a:ext cx="10725912" cy="420624"/>
          </a:xfrm>
          <a:prstGeom prst="roundRect">
            <a:avLst>
              <a:gd name="adj" fmla="val 5000"/>
            </a:avLst>
          </a:prstGeom>
          <a:solidFill>
            <a:srgbClr val="E3F1F1"/>
          </a:solidFill>
          <a:ln w="635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04672" y="5010912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1A9696"/>
          </a:solidFill>
          <a:ln w="12700">
            <a:solidFill>
              <a:srgbClr val="1A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" y="4965192"/>
            <a:ext cx="2011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Palatino Linotype"/>
                <a:cs typeface="Palatino Linotype"/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" y="4937759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556668"/>
                </a:solidFill>
                <a:latin typeface="Palatino Linotype"/>
                <a:cs typeface="Palatino Linotype"/>
              </a:rPr>
              <a:t>wk24/dup copy of nb.csv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376672" y="5029200"/>
            <a:ext cx="201168" cy="13716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9279" y="4937759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F3032"/>
                </a:solidFill>
                <a:latin typeface="Palatino Linotype"/>
                <a:cs typeface="Palatino Linotype"/>
              </a:rPr>
              <a:t>(duplicate content hash)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937759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 i="0">
                <a:solidFill>
                  <a:srgbClr val="1C7070"/>
                </a:solidFill>
                <a:latin typeface="Palatino Linotype"/>
                <a:cs typeface="Palatino Linotype"/>
              </a:rPr>
              <a:t>MCD1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14432" y="498348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F8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14432" y="49926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Palatino Linotype"/>
                <a:cs typeface="Palatino Linotype"/>
              </a:rPr>
              <a:t>REVIEW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8155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582472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Palatino Linotype"/>
                <a:cs typeface="Palatino Linotype"/>
              </a:rPr>
              <a:t>Confirm selected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0" y="5815584"/>
            <a:ext cx="18288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6510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43200" y="582472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C04A3E"/>
                </a:solidFill>
                <a:latin typeface="Palatino Linotype"/>
                <a:cs typeface="Palatino Linotype"/>
              </a:rPr>
              <a:t>Ignore selected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6320" y="5833872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1">
                <a:solidFill>
                  <a:srgbClr val="556668"/>
                </a:solidFill>
                <a:latin typeface="Palatino Linotype"/>
                <a:cs typeface="Palatino Linotype"/>
              </a:rPr>
              <a:t>Ignore = mark REJECTED: kept in the catalog, never promoted to MDM.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37376"/>
            <a:ext cx="11091672" cy="12801"/>
          </a:xfrm>
          <a:prstGeom prst="rect">
            <a:avLst/>
          </a:prstGeom>
          <a:solidFill>
            <a:srgbClr val="CF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SFTP Ingestion + Folder Normalization   |   Confidential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USER INTERFACE  -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99669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0F383A"/>
                </a:solidFill>
                <a:latin typeface="Palatino Linotype"/>
                <a:cs typeface="Palatino Linotype"/>
              </a:rPr>
              <a:t>Normalized Folder View  +  Classify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 i="0">
                <a:solidFill>
                  <a:srgbClr val="556668"/>
                </a:solidFill>
                <a:latin typeface="Palatino Linotype"/>
                <a:cs typeface="Palatino Linotype"/>
              </a:rPr>
              <a:t>Browse the normalized tree; the classifier proposes system / client / enable for the SME to confirm.</a:t>
            </a:r>
          </a:p>
        </p:txBody>
      </p:sp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"/>
            <a:ext cx="1284500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01168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384048"/>
          </a:xfrm>
          <a:prstGeom prst="rect">
            <a:avLst/>
          </a:prstGeom>
          <a:solidFill>
            <a:srgbClr val="0F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4944" y="2148840"/>
            <a:ext cx="109728" cy="109728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2148840"/>
            <a:ext cx="109728" cy="109728"/>
          </a:xfrm>
          <a:prstGeom prst="ellipse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148840"/>
            <a:ext cx="109728" cy="109728"/>
          </a:xfrm>
          <a:prstGeom prst="ellipse">
            <a:avLst/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0665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Normalized Folders   (system / client / feed / month)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7860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organized/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871216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MCD1/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16382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rush_copley/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456432"/>
            <a:ext cx="40965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RUSHCOP2/  2026-06/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3" y="3749039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0F3032"/>
                </a:solidFill>
                <a:latin typeface="Palatino Linotype"/>
                <a:cs typeface="Palatino Linotype"/>
              </a:rPr>
              <a:t>RUSHCOP2_20260617.txt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3" y="4041648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0F3032"/>
                </a:solidFill>
                <a:latin typeface="Palatino Linotype"/>
                <a:cs typeface="Palatino Linotype"/>
              </a:rPr>
              <a:t>RUSHCOP2_20260618.txt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334256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MCD2/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62686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south_jersey/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919472"/>
            <a:ext cx="40965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1C7070"/>
                </a:solidFill>
                <a:latin typeface="Palatino Linotype"/>
                <a:cs typeface="Palatino Linotype"/>
              </a:rPr>
              <a:t>SJERHEAL/  2026-06/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6543" y="5212080"/>
            <a:ext cx="378561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0F3032"/>
                </a:solidFill>
                <a:latin typeface="Palatino Linotype"/>
                <a:cs typeface="Palatino Linotype"/>
              </a:rPr>
              <a:t>SJERHEAL_20260617.dat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011680"/>
            <a:ext cx="5330952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011680"/>
            <a:ext cx="5330952" cy="384048"/>
          </a:xfrm>
          <a:prstGeom prst="rect">
            <a:avLst/>
          </a:prstGeom>
          <a:solidFill>
            <a:srgbClr val="0F3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55664" y="2148840"/>
            <a:ext cx="109728" cy="109728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620256" y="2148840"/>
            <a:ext cx="109728" cy="109728"/>
          </a:xfrm>
          <a:prstGeom prst="ellipse">
            <a:avLst/>
          </a:prstGeom>
          <a:solidFill>
            <a:srgbClr val="E7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784848" y="2148840"/>
            <a:ext cx="109728" cy="109728"/>
          </a:xfrm>
          <a:prstGeom prst="ellipse">
            <a:avLst/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2592" y="206654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Palatino Linotype"/>
                <a:cs typeface="Palatino Linotype"/>
              </a:rPr>
              <a:t>Classify &amp; 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1518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556668"/>
                </a:solidFill>
                <a:latin typeface="Palatino Linotype"/>
                <a:cs typeface="Palatino Linotype"/>
              </a:rPr>
              <a:t>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2615184"/>
            <a:ext cx="3502152" cy="36576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762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263347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3032"/>
                </a:solidFill>
                <a:latin typeface="Palatino Linotype"/>
                <a:cs typeface="Palatino Linotype"/>
              </a:rPr>
              <a:t>MCD1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18211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556668"/>
                </a:solidFill>
                <a:latin typeface="Palatino Linotype"/>
                <a:cs typeface="Palatino Linotype"/>
              </a:rPr>
              <a:t>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182112"/>
            <a:ext cx="3502152" cy="36576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762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73568" y="3200400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3032"/>
                </a:solidFill>
                <a:latin typeface="Palatino Linotype"/>
                <a:cs typeface="Palatino Linotype"/>
              </a:rPr>
              <a:t>Rush Copley Medical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490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556668"/>
                </a:solidFill>
                <a:latin typeface="Palatino Linotype"/>
                <a:cs typeface="Palatino Linotype"/>
              </a:rPr>
              <a:t>Enable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749040"/>
            <a:ext cx="3502152" cy="365760"/>
          </a:xfrm>
          <a:prstGeom prst="roundRect">
            <a:avLst>
              <a:gd name="adj" fmla="val 12000"/>
            </a:avLst>
          </a:prstGeom>
          <a:solidFill>
            <a:srgbClr val="F7FAFA"/>
          </a:solidFill>
          <a:ln w="762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73568" y="3767328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3032"/>
                </a:solidFill>
                <a:latin typeface="Palatino Linotype"/>
                <a:cs typeface="Palatino Linotype"/>
              </a:rPr>
              <a:t>RUSHCOP2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2486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525780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383A"/>
                </a:solidFill>
                <a:latin typeface="Palatino Linotype"/>
                <a:cs typeface="Palatino Linotype"/>
              </a:rPr>
              <a:t>Confirm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5248656"/>
            <a:ext cx="146304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5257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556668"/>
                </a:solidFill>
                <a:latin typeface="Palatino Linotype"/>
                <a:cs typeface="Palatino Linotype"/>
              </a:rPr>
              <a:t>Reject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437376"/>
            <a:ext cx="11091672" cy="12801"/>
          </a:xfrm>
          <a:prstGeom prst="rect">
            <a:avLst/>
          </a:prstGeom>
          <a:solidFill>
            <a:srgbClr val="CF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SFTP Ingestion + Folder Normalization   |  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SNOWFLAKE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99669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0F383A"/>
                </a:solidFill>
                <a:latin typeface="Palatino Linotype"/>
                <a:cs typeface="Palatino Linotype"/>
              </a:rPr>
              <a:t>Control-Plane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 i="0">
                <a:solidFill>
                  <a:srgbClr val="556668"/>
                </a:solidFill>
                <a:latin typeface="Palatino Linotype"/>
                <a:cs typeface="Palatino Linotype"/>
              </a:rPr>
              <a:t>Snowflake is the system of record. PHI-Zero: names, hashes, state - never patient values.</a:t>
            </a:r>
          </a:p>
        </p:txBody>
      </p:sp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"/>
            <a:ext cx="1284500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965960"/>
            <a:ext cx="324612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246120" cy="420624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2029967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Palatino Linotype"/>
                <a:cs typeface="Palatino Linotype"/>
              </a:rPr>
              <a:t>CFG_SFTP_SOURCE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3" y="2478024"/>
            <a:ext cx="3136391" cy="274320"/>
          </a:xfrm>
          <a:prstGeom prst="rect">
            <a:avLst/>
          </a:prstGeom>
          <a:solidFill>
            <a:srgbClr val="EC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032"/>
                </a:solidFill>
                <a:latin typeface="Palatino Linotype"/>
                <a:cs typeface="Palatino Linotype"/>
              </a:rPr>
              <a:t>SOURCE_ID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4963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7520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CLIENT_ID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77520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5409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ROOT_PATH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05409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3298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CRED_REF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33329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1188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36118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9077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IS_ACTIVE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38907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BOOLEAN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965960"/>
            <a:ext cx="37947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1965960"/>
            <a:ext cx="3794760" cy="420624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06824" y="2029967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Palatino Linotype"/>
                <a:cs typeface="Palatino Linotype"/>
              </a:rPr>
              <a:t>CTL_FILE_INVENTORY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5383" y="2478024"/>
            <a:ext cx="3685032" cy="274320"/>
          </a:xfrm>
          <a:prstGeom prst="rect">
            <a:avLst/>
          </a:prstGeom>
          <a:solidFill>
            <a:srgbClr val="EC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249631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032"/>
                </a:solidFill>
                <a:latin typeface="Palatino Linotype"/>
                <a:cs typeface="Palatino Linotype"/>
              </a:rPr>
              <a:t>FILE_ID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24963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PK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277520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CONTENT_HASH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277520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UNIQUE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3054096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SOURCE_PATH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599" y="305409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33298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SERVER_PATH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599" y="33329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3611880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SYSTEM /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599" y="36118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89077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ENABLE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599" y="38907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16966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KIND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416966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src|proc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4448556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444855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472744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SME_BY / SME_AT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599" y="47274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VARCHAR/TS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5006340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RUN_ID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599" y="500634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FK -&gt;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965960"/>
            <a:ext cx="3319272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21040" y="1965960"/>
            <a:ext cx="3319272" cy="420624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67344" y="2029967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Palatino Linotype"/>
                <a:cs typeface="Palatino Linotype"/>
              </a:rPr>
              <a:t>CTL_LANDING_LOAD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75904" y="2478024"/>
            <a:ext cx="3209544" cy="274320"/>
          </a:xfrm>
          <a:prstGeom prst="rect">
            <a:avLst/>
          </a:prstGeom>
          <a:solidFill>
            <a:srgbClr val="EC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85632" y="2496312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3032"/>
                </a:solidFill>
                <a:latin typeface="Palatino Linotype"/>
                <a:cs typeface="Palatino Linotype"/>
              </a:rPr>
              <a:t>RUN_ID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9631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PK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2775204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CLIENT_ID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71632" y="277520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054096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SERVICE_LINE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71632" y="305409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3332988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FILE_TYPE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71632" y="33329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3611880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RECORD_SOURCE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71632" y="36118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3890772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SOURCE_FILE_HASH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71632" y="38907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5632" y="4169664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0F3032"/>
                </a:solidFill>
                <a:latin typeface="Palatino Linotype"/>
                <a:cs typeface="Palatino Linotype"/>
              </a:rPr>
              <a:t>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71632" y="416966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56668"/>
                </a:solidFill>
                <a:latin typeface="Palatino Linotype"/>
                <a:cs typeface="Palatino Linotype"/>
              </a:rPr>
              <a:t>VARCHAR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7973568" y="2743200"/>
            <a:ext cx="329184" cy="310896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72400" y="305409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0" i="1">
                <a:solidFill>
                  <a:srgbClr val="556668"/>
                </a:solidFill>
                <a:latin typeface="Palatino Linotype"/>
                <a:cs typeface="Palatino Linotype"/>
              </a:rPr>
              <a:t>RUN_ID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6509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0F383A"/>
                </a:solidFill>
                <a:latin typeface="Palatino Linotype"/>
                <a:cs typeface="Palatino Linotype"/>
              </a:rPr>
              <a:t>CTL_FILE_INVENTORY.STATE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DISCOVERED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860804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911095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11095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CLASSIFIED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223260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273552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273552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NEEDS_REVIEW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585716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636008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636008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CONFIRMED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5948172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998464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98464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STAGING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7310628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360920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60920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LANDED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8673084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723376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23376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PROCESSED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10035540" y="6053328"/>
            <a:ext cx="54864" cy="91440"/>
          </a:xfrm>
          <a:prstGeom prst="rightArrow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085832" y="594360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085832" y="5952744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800" b="1" i="0">
                <a:solidFill>
                  <a:srgbClr val="0F383A"/>
                </a:solidFill>
                <a:latin typeface="Palatino Linotype"/>
                <a:cs typeface="Palatino Linotype"/>
              </a:rPr>
              <a:t>ARCHIVED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437376"/>
            <a:ext cx="11091672" cy="12801"/>
          </a:xfrm>
          <a:prstGeom prst="rect">
            <a:avLst/>
          </a:prstGeom>
          <a:solidFill>
            <a:srgbClr val="CF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SFTP Ingestion + Folder Normalization   |   Confidential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062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spc="260">
                <a:solidFill>
                  <a:srgbClr val="1A9696"/>
                </a:solidFill>
                <a:latin typeface="Palatino Linotype"/>
                <a:cs typeface="Palatino Linotype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99669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0F383A"/>
                </a:solidFill>
                <a:latin typeface="Palatino Linotype"/>
                <a:cs typeface="Palatino Linotype"/>
              </a:rPr>
              <a:t>Identities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 i="0">
                <a:solidFill>
                  <a:srgbClr val="556668"/>
                </a:solidFill>
                <a:latin typeface="Palatino Linotype"/>
                <a:cs typeface="Palatino Linotype"/>
              </a:rPr>
              <a:t>A new standalone app: one Windows service identity + one Snowflake login. Least-privilege; secrets in env vars.</a:t>
            </a:r>
          </a:p>
        </p:txBody>
      </p:sp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402336"/>
            <a:ext cx="1284500" cy="384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920240"/>
            <a:ext cx="54406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40680" cy="109728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2231136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24027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Palatino Linotype"/>
                <a:cs typeface="Palatino Linotype"/>
              </a:rPr>
              <a:t>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614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0F383A"/>
                </a:solidFill>
                <a:latin typeface="Palatino Linotype"/>
                <a:cs typeface="Palatino Linotype"/>
              </a:rPr>
              <a:t>Snowflake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45536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1">
                <a:solidFill>
                  <a:srgbClr val="556668"/>
                </a:solidFill>
                <a:latin typeface="Palatino Linotype"/>
                <a:cs typeface="Palatino Linotype"/>
              </a:rPr>
              <a:t>POC key-pair  -&gt;  dedicated service account at go-live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478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RSA key-pair; user + key path from environment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114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14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a team member's key-pair, scoped to a dedicated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817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8172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DEX_INGEST  -  PUT to LANDING; write inventory + landing; read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2486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24865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dedicated service account; swap is config-only (no code change)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920240"/>
            <a:ext cx="54406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1920240"/>
            <a:ext cx="5440680" cy="109728"/>
          </a:xfrm>
          <a:prstGeom prst="rect">
            <a:avLst/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73952" y="2231136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4C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24027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Palatino Linotype"/>
                <a:cs typeface="Palatino Linotype"/>
              </a:rPr>
              <a:t>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7614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0F383A"/>
                </a:solidFill>
                <a:latin typeface="Palatino Linotype"/>
                <a:cs typeface="Palatino Linotype"/>
              </a:rPr>
              <a:t>Windows service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145536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1">
                <a:solidFill>
                  <a:srgbClr val="556668"/>
                </a:solidFill>
                <a:latin typeface="Palatino Linotype"/>
                <a:cs typeface="Palatino Linotype"/>
              </a:rPr>
              <a:t>installed once by the Admin on the RDP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54787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5478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Windows service on the RDP / Windows server (installed once)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114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4114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reads the network share  -  no SFTP credential on our 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6817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468172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share read granted at install (LocalSystem, or domain account for UNC)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2486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C7070"/>
                </a:solidFill>
                <a:latin typeface="Palatino Linotype"/>
                <a:cs typeface="Palatino Linotype"/>
              </a:rPr>
              <a:t>Zone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524865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0" i="0">
                <a:solidFill>
                  <a:srgbClr val="0F3032"/>
                </a:solidFill>
                <a:latin typeface="Palatino Linotype"/>
                <a:cs typeface="Palatino Linotype"/>
              </a:rPr>
              <a:t>HIPAA  -  PHI on the share + server; encrypted, audited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1091672" cy="170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lang="en-US" sz="1100" b="1" i="0" dirty="0">
                <a:solidFill>
                  <a:srgbClr val="1C7070"/>
                </a:solidFill>
                <a:latin typeface="Palatino Linotype"/>
                <a:cs typeface="Palatino Linotype"/>
              </a:rPr>
              <a:t>NOTE: </a:t>
            </a:r>
            <a:r>
              <a:rPr sz="1100" b="1" i="0" dirty="0">
                <a:solidFill>
                  <a:srgbClr val="1C7070"/>
                </a:solidFill>
                <a:latin typeface="Palatino Linotype"/>
                <a:cs typeface="Palatino Linotype"/>
              </a:rPr>
              <a:t>POC runs on an interim Snowflake key-pair; a dedicated service account is provisioned before go-live. Secrets in env vars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37376"/>
            <a:ext cx="11091672" cy="12801"/>
          </a:xfrm>
          <a:prstGeom prst="rect">
            <a:avLst/>
          </a:prstGeom>
          <a:solidFill>
            <a:srgbClr val="CF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510528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SFTP Ingestion + Folder Normalization   | 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556668"/>
                </a:solidFill>
                <a:latin typeface="Palatino Linotype"/>
                <a:cs typeface="Palatino Linotype"/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681" y="1828800"/>
            <a:ext cx="3058332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67047" y="3154680"/>
            <a:ext cx="3657600" cy="18288"/>
          </a:xfrm>
          <a:prstGeom prst="rect">
            <a:avLst/>
          </a:prstGeom>
          <a:solidFill>
            <a:srgbClr val="1A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5000" b="1" i="0">
                <a:solidFill>
                  <a:srgbClr val="0F383A"/>
                </a:solidFill>
                <a:latin typeface="Palatino Linotype"/>
                <a:cs typeface="Palatino Linotype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9204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C7070"/>
                </a:solidFill>
                <a:latin typeface="Palatino Linotype"/>
                <a:cs typeface="Palatino Linotype"/>
              </a:rPr>
              <a:t>Psiog</a:t>
            </a:r>
            <a:r>
              <a:rPr sz="1300" b="0" i="0">
                <a:solidFill>
                  <a:srgbClr val="556668"/>
                </a:solidFill>
                <a:latin typeface="Palatino Linotype"/>
                <a:cs typeface="Palatino Linotype"/>
              </a:rPr>
              <a:t>   |   SFTP Ingestion + Folder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120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0" i="0">
                <a:solidFill>
                  <a:srgbClr val="556668"/>
                </a:solidFill>
                <a:latin typeface="Palatino Linotype"/>
                <a:cs typeface="Palatino Linotype"/>
              </a:rPr>
              <a:t>Confidential   | 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830</Words>
  <Application>Microsoft Office PowerPoint</Application>
  <PresentationFormat>Widescreen</PresentationFormat>
  <Paragraphs>191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Sivasankaran Samandham</cp:lastModifiedBy>
  <cp:revision>3</cp:revision>
  <dcterms:created xsi:type="dcterms:W3CDTF">2013-01-27T09:14:16Z</dcterms:created>
  <dcterms:modified xsi:type="dcterms:W3CDTF">2026-06-19T08:20:54Z</dcterms:modified>
  <cp:category/>
</cp:coreProperties>
</file>